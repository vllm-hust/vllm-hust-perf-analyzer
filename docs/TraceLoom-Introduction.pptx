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3600" b="1">
                <a:solidFill>
                  <a:srgbClr val="F0F6FC"/>
                </a:solidFill>
                <a:latin typeface="Arial"/>
              </a:defRPr>
            </a:pPr>
            <a:r>
              <a:t>TraceLoom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502920"/>
            <a:ext cx="365760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Arial"/>
              </a:defRPr>
            </a:pPr>
            <a:r>
              <a:t>离线加速器性能分析工具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MIT License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10881360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08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4846320" cy="640080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defRPr sz="1300"/>
            </a:pPr>
            <a:r>
              <a:rPr sz="1300">
                <a:solidFill>
                  <a:srgbClr val="C9D1D9"/>
                </a:solidFill>
                <a:latin typeface="Arial"/>
              </a:rPr>
              <a:t>读取已采集的 Ascend/CANN msprof 产物，将 profiler 事件整理成</a:t>
            </a:r>
            <a:r>
              <a:rPr sz="1300" b="1">
                <a:solidFill>
                  <a:srgbClr val="F0F6FC"/>
                </a:solidFill>
                <a:latin typeface="Arial"/>
              </a:rPr>
              <a:t>可读、可查、可比较</a:t>
            </a:r>
            <a:r>
              <a:rPr sz="1300">
                <a:solidFill>
                  <a:srgbClr val="C9D1D9"/>
                </a:solidFill>
                <a:latin typeface="Arial"/>
              </a:rPr>
              <a:t>的性能地图。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Arial"/>
              </a:defRPr>
            </a:pPr>
            <a:r>
              <a:t>核心能力</a:t>
            </a:r>
          </a:p>
        </p:txBody>
      </p:sp>
      <p:sp>
        <p:nvSpPr>
          <p:cNvPr id="10" name="Diamond 9"/>
          <p:cNvSpPr/>
          <p:nvPr/>
        </p:nvSpPr>
        <p:spPr>
          <a:xfrm>
            <a:off x="640080" y="2324100"/>
            <a:ext cx="177800" cy="177800"/>
          </a:xfrm>
          <a:prstGeom prst="diamond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50292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F0F6FC"/>
                </a:solidFill>
                <a:latin typeface="Arial"/>
              </a:rPr>
              <a:t>语义锚点树</a:t>
            </a:r>
            <a:r>
              <a:rPr sz="1100">
                <a:solidFill>
                  <a:srgbClr val="C9D1D9"/>
                </a:solidFill>
                <a:latin typeface="Arial"/>
              </a:rPr>
              <a:t>  —  从 profiler 事件恢复循环结构和重复模式，生成可读 tree-map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" y="2827020"/>
            <a:ext cx="177800" cy="177800"/>
          </a:xfrm>
          <a:prstGeom prst="diamond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50292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F0F6FC"/>
                </a:solidFill>
                <a:latin typeface="Arial"/>
              </a:rPr>
              <a:t>增强 SQLite DB</a:t>
            </a:r>
            <a:r>
              <a:rPr sz="1100">
                <a:solidFill>
                  <a:srgbClr val="C9D1D9"/>
                </a:solidFill>
                <a:latin typeface="Arial"/>
              </a:rPr>
              <a:t>  —  原始表不动，注入 traceloom_* 视图，用 SQL 无限深挖</a:t>
            </a:r>
          </a:p>
        </p:txBody>
      </p:sp>
      <p:sp>
        <p:nvSpPr>
          <p:cNvPr id="14" name="Diamond 13"/>
          <p:cNvSpPr/>
          <p:nvPr/>
        </p:nvSpPr>
        <p:spPr>
          <a:xfrm>
            <a:off x="640080" y="3329940"/>
            <a:ext cx="177800" cy="177800"/>
          </a:xfrm>
          <a:prstGeom prst="diamond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50292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F0F6FC"/>
                </a:solidFill>
                <a:latin typeface="Arial"/>
              </a:rPr>
              <a:t>成本归因模型</a:t>
            </a:r>
            <a:r>
              <a:rPr sz="1100">
                <a:solidFill>
                  <a:srgbClr val="C9D1D9"/>
                </a:solidFill>
                <a:latin typeface="Arial"/>
              </a:rPr>
              <a:t>  —  compute / communication / aux / idle 逐节点拆分成本</a:t>
            </a:r>
          </a:p>
        </p:txBody>
      </p:sp>
      <p:sp>
        <p:nvSpPr>
          <p:cNvPr id="16" name="Diamond 15"/>
          <p:cNvSpPr/>
          <p:nvPr/>
        </p:nvSpPr>
        <p:spPr>
          <a:xfrm>
            <a:off x="640080" y="3832860"/>
            <a:ext cx="177800" cy="177800"/>
          </a:xfrm>
          <a:prstGeom prst="diamond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50292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F0F6FC"/>
                </a:solidFill>
                <a:latin typeface="Arial"/>
              </a:rPr>
              <a:t>多卡对比分析</a:t>
            </a:r>
            <a:r>
              <a:rPr sz="1100">
                <a:solidFill>
                  <a:srgbClr val="C9D1D9"/>
                </a:solidFill>
                <a:latin typeface="Arial"/>
              </a:rPr>
              <a:t>  —  自动发现设备，按 device 过滤或全局 top-N 热点分析</a:t>
            </a:r>
          </a:p>
        </p:txBody>
      </p:sp>
      <p:sp>
        <p:nvSpPr>
          <p:cNvPr id="18" name="Diamond 17"/>
          <p:cNvSpPr/>
          <p:nvPr/>
        </p:nvSpPr>
        <p:spPr>
          <a:xfrm>
            <a:off x="640080" y="4335780"/>
            <a:ext cx="177800" cy="177800"/>
          </a:xfrm>
          <a:prstGeom prst="diamond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50292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F0F6FC"/>
                </a:solidFill>
                <a:latin typeface="Arial"/>
              </a:rPr>
              <a:t>轻量离线设计</a:t>
            </a:r>
            <a:r>
              <a:rPr sz="1100">
                <a:solidFill>
                  <a:srgbClr val="C9D1D9"/>
                </a:solidFill>
                <a:latin typeface="Arial"/>
              </a:rPr>
              <a:t>  —  纯分析工具，不安装驱动、不依赖 Docker、不绑定运行时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8288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Arial"/>
              </a:defRPr>
            </a:pPr>
            <a:r>
              <a:t>面向用户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530352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  <a:latin typeface="Arial"/>
              </a:rPr>
              <a:t>•  做分布式推理、通信优化、算子优化的研发人员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  <a:latin typeface="Arial"/>
              </a:rPr>
              <a:t>•  已有可运行的 Ascend 环境和 msprof 产物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  <a:latin typeface="Arial"/>
              </a:rPr>
              <a:t>•  想快速定位热点循环、分析时间构成，并能用 SQL 继续深挖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188720"/>
            <a:ext cx="2743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Arial"/>
              </a:defRPr>
            </a:pPr>
            <a:r>
              <a:t>推荐工作流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4630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1598168"/>
            <a:ext cx="228600" cy="228600"/>
          </a:xfrm>
          <a:prstGeom prst="ellipse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572768"/>
            <a:ext cx="4572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traceloom analyze /path/to/msprof_raw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892808"/>
            <a:ext cx="27432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2027936"/>
            <a:ext cx="228600" cy="228600"/>
          </a:xfrm>
          <a:prstGeom prst="ellipse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002536"/>
            <a:ext cx="4572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阅读 summary.md + tree-map.md 定位全局视图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322576"/>
            <a:ext cx="27432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2457704"/>
            <a:ext cx="228600" cy="228600"/>
          </a:xfrm>
          <a:prstGeom prst="ellipse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432304"/>
            <a:ext cx="4572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定位热点 node（如 N060，按 total_us 排序）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752344"/>
            <a:ext cx="27432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887472"/>
            <a:ext cx="228600" cy="228600"/>
          </a:xfrm>
          <a:prstGeom prst="ellipse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45720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queries/*.sql 深挖事件、occurrence、成本构成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566160"/>
            <a:ext cx="2743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Arial"/>
              </a:defRPr>
            </a:pPr>
            <a:r>
              <a:t>输出产物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840480"/>
            <a:ext cx="2468880" cy="6400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100" b="1">
                <a:solidFill>
                  <a:srgbClr val="F0F6FC"/>
                </a:solidFill>
                <a:latin typeface="Consolas"/>
              </a:rPr>
              <a:t>tree-map.md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8B949E"/>
                </a:solidFill>
                <a:latin typeface="Arial"/>
              </a:rPr>
              <a:t>性能地图 / 热点循环树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3840480"/>
            <a:ext cx="2468880" cy="6400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100" b="1">
                <a:solidFill>
                  <a:srgbClr val="F0F6FC"/>
                </a:solidFill>
                <a:latin typeface="Consolas"/>
              </a:rPr>
              <a:t>*.augmented.db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8B949E"/>
                </a:solidFill>
                <a:latin typeface="Arial"/>
              </a:rPr>
              <a:t>增强 SQLite / 可查询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572000"/>
            <a:ext cx="2468880" cy="6400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100" b="1">
                <a:solidFill>
                  <a:srgbClr val="F0F6FC"/>
                </a:solidFill>
                <a:latin typeface="Consolas"/>
              </a:rPr>
              <a:t>summary.md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8B949E"/>
                </a:solidFill>
                <a:latin typeface="Arial"/>
              </a:rPr>
              <a:t>全局概览 / 设备信息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4572000"/>
            <a:ext cx="2468880" cy="6400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100" b="1">
                <a:solidFill>
                  <a:srgbClr val="F0F6FC"/>
                </a:solidFill>
                <a:latin typeface="Consolas"/>
              </a:rPr>
              <a:t>queries/*.sql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8B949E"/>
                </a:solidFill>
                <a:latin typeface="Arial"/>
              </a:rPr>
              <a:t>内置分析查询脚本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66360"/>
            <a:ext cx="2743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Arial"/>
              </a:defRPr>
            </a:pPr>
            <a:r>
              <a:t>边界说明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413248"/>
            <a:ext cx="5212080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B949E"/>
                </a:solidFill>
                <a:latin typeface="Arial"/>
              </a:rPr>
              <a:t>✗  不安装驱动、CANN、torch 或 vLLM — 纯离线分析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B949E"/>
                </a:solidFill>
                <a:latin typeface="Arial"/>
              </a:rPr>
              <a:t>✗  不绑定特定运行时或容器环境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B949E"/>
                </a:solidFill>
                <a:latin typeface="Arial"/>
              </a:rPr>
              <a:t>✗  不提交大型 profiler DB — 只产出轻量 CSV/MD/SQL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355080"/>
            <a:ext cx="10881360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46520"/>
            <a:ext cx="457200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vLLM-HUST  ·  分布式推理性能分析基础设施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64465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0E1F1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EE787"/>
                </a:solidFill>
              </a:defRPr>
            </a:pPr>
            <a:r>
              <a:t>Ascend/CANN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60" y="64465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0E1F1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EE787"/>
                </a:solidFill>
              </a:defRPr>
            </a:pPr>
            <a:r>
              <a:t>msprof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64465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0E1F1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EE787"/>
                </a:solidFill>
              </a:defRPr>
            </a:pPr>
            <a:r>
              <a:t>SQLite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18520" y="64465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0E1F1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EE787"/>
                </a:solidFill>
              </a:defRPr>
            </a:pPr>
            <a:r>
              <a:t>Offline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87200" y="64465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0E1F1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EE787"/>
                </a:solidFill>
              </a:defRPr>
            </a:pPr>
            <a:r>
              <a:t>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